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31"/>
  </p:normalViewPr>
  <p:slideViewPr>
    <p:cSldViewPr snapToGrid="0">
      <p:cViewPr varScale="1">
        <p:scale>
          <a:sx n="84" d="100"/>
          <a:sy n="84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r>
              <a:rPr lang="en-US"/>
              <a:t>22+ mph speed bursts among NHL EDGE top 10 skaters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22+ mph bursts</c:v>
          </c:tx>
          <c:invertIfNegative val="1"/>
          <c:cat>
            <c:strLit>
              <c:ptCount val="10"/>
              <c:pt idx="0">
                <c:v>McDavid</c:v>
              </c:pt>
              <c:pt idx="1">
                <c:v>Tippett</c:v>
              </c:pt>
              <c:pt idx="2">
                <c:v>Stützle</c:v>
              </c:pt>
              <c:pt idx="3">
                <c:v>MacKinnon</c:v>
              </c:pt>
              <c:pt idx="4">
                <c:v>Necas</c:v>
              </c:pt>
              <c:pt idx="5">
                <c:v>Anderson</c:v>
              </c:pt>
              <c:pt idx="6">
                <c:v>Point</c:v>
              </c:pt>
              <c:pt idx="7">
                <c:v>Hintz</c:v>
              </c:pt>
              <c:pt idx="8">
                <c:v>Cooley</c:v>
              </c:pt>
              <c:pt idx="9">
                <c:v>Schaefer</c:v>
              </c:pt>
            </c:strLit>
          </c:cat>
          <c:val>
            <c:numLit>
              <c:formatCode>General</c:formatCode>
              <c:ptCount val="10"/>
              <c:pt idx="0">
                <c:v>151</c:v>
              </c:pt>
              <c:pt idx="1">
                <c:v>61</c:v>
              </c:pt>
              <c:pt idx="2">
                <c:v>46</c:v>
              </c:pt>
              <c:pt idx="3">
                <c:v>45</c:v>
              </c:pt>
              <c:pt idx="4">
                <c:v>37</c:v>
              </c:pt>
              <c:pt idx="5">
                <c:v>36</c:v>
              </c:pt>
              <c:pt idx="6">
                <c:v>36</c:v>
              </c:pt>
              <c:pt idx="7">
                <c:v>33</c:v>
              </c:pt>
              <c:pt idx="8">
                <c:v>33</c:v>
              </c:pt>
              <c:pt idx="9">
                <c:v>33</c:v>
              </c:pt>
            </c:numLit>
          </c:val>
          <c:extLst>
            <c:ext xmlns:c16="http://schemas.microsoft.com/office/drawing/2014/chart" uri="{C3380CC4-5D6E-409C-BE32-E72D297353CC}">
              <c16:uniqueId val="{00000000-49C9-D74A-8902-4D7687B305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ce-background">
            <a:extLst>
              <a:ext uri="{FF2B5EF4-FFF2-40B4-BE49-F238E27FC236}">
                <a16:creationId xmlns:a16="http://schemas.microsoft.com/office/drawing/2014/main" id="{664D1C33-44F0-4B2F-9172-432C7CB714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ink-line">
            <a:extLst>
              <a:ext uri="{FF2B5EF4-FFF2-40B4-BE49-F238E27FC236}">
                <a16:creationId xmlns:a16="http://schemas.microsoft.com/office/drawing/2014/main" id="{959DB012-0913-4CA4-BFA3-D4E6F6CEF4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FF6B2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aint-blue-line">
            <a:extLst>
              <a:ext uri="{FF2B5EF4-FFF2-40B4-BE49-F238E27FC236}">
                <a16:creationId xmlns:a16="http://schemas.microsoft.com/office/drawing/2014/main" id="{C47A4434-CBE1-4BB1-8A2E-342E9949C768}"/>
              </a:ext>
            </a:extLst>
          </p:cNvPr>
          <p:cNvSpPr>
            <a:spLocks noGrp="1"/>
          </p:cNvSpPr>
          <p:nvPr/>
        </p:nvSpPr>
        <p:spPr>
          <a:xfrm>
            <a:off x="2971800" y="0"/>
            <a:ext cx="57150" cy="10287000"/>
          </a:xfrm>
          <a:prstGeom prst="rect">
            <a:avLst/>
          </a:prstGeom>
          <a:solidFill>
            <a:srgbClr val="DCE7EE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aint-red-line">
            <a:extLst>
              <a:ext uri="{FF2B5EF4-FFF2-40B4-BE49-F238E27FC236}">
                <a16:creationId xmlns:a16="http://schemas.microsoft.com/office/drawing/2014/main" id="{4F409638-8EF2-41C9-B867-79B4E143B36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38100" cy="10287000"/>
          </a:xfrm>
          <a:prstGeom prst="rect">
            <a:avLst/>
          </a:prstGeom>
          <a:solidFill>
            <a:srgbClr val="F0C7C2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ver-speed-lane">
            <a:extLst>
              <a:ext uri="{FF2B5EF4-FFF2-40B4-BE49-F238E27FC236}">
                <a16:creationId xmlns:a16="http://schemas.microsoft.com/office/drawing/2014/main" id="{1B6C1F70-321B-405F-B09D-662778EB277F}"/>
              </a:ext>
            </a:extLst>
          </p:cNvPr>
          <p:cNvSpPr>
            <a:spLocks noGrp="1"/>
          </p:cNvSpPr>
          <p:nvPr/>
        </p:nvSpPr>
        <p:spPr>
          <a:xfrm>
            <a:off x="10744200" y="0"/>
            <a:ext cx="7543800" cy="10287000"/>
          </a:xfrm>
          <a:prstGeom prst="rect">
            <a:avLst/>
          </a:prstGeom>
          <a:solidFill>
            <a:srgbClr val="E9F5FA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-title-1">
            <a:extLst>
              <a:ext uri="{FF2B5EF4-FFF2-40B4-BE49-F238E27FC236}">
                <a16:creationId xmlns:a16="http://schemas.microsoft.com/office/drawing/2014/main" id="{657CBC54-5832-40A4-8138-3D7AF6EC52EB}"/>
              </a:ext>
            </a:extLst>
          </p:cNvPr>
          <p:cNvSpPr>
            <a:spLocks noGrp="1"/>
          </p:cNvSpPr>
          <p:nvPr/>
        </p:nvSpPr>
        <p:spPr>
          <a:xfrm>
            <a:off x="1047750" y="1600200"/>
            <a:ext cx="85725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600" b="1">
                <a:solidFill>
                  <a:srgbClr val="101820"/>
                </a:solidFill>
              </a:defRPr>
            </a:pPr>
            <a:r>
              <a:rPr sz="6600" b="1">
                <a:solidFill>
                  <a:srgbClr val="101820"/>
                </a:solidFill>
              </a:rPr>
              <a:t>Speed is</a:t>
            </a:r>
          </a:p>
        </p:txBody>
      </p:sp>
      <p:sp>
        <p:nvSpPr>
          <p:cNvPr id="7" name="cover-title-2">
            <a:extLst>
              <a:ext uri="{FF2B5EF4-FFF2-40B4-BE49-F238E27FC236}">
                <a16:creationId xmlns:a16="http://schemas.microsoft.com/office/drawing/2014/main" id="{889460BD-49C5-4EEF-9FA6-E0513DFB6D08}"/>
              </a:ext>
            </a:extLst>
          </p:cNvPr>
          <p:cNvSpPr>
            <a:spLocks noGrp="1"/>
          </p:cNvSpPr>
          <p:nvPr/>
        </p:nvSpPr>
        <p:spPr>
          <a:xfrm>
            <a:off x="1047750" y="2952750"/>
            <a:ext cx="85725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600" b="1">
                <a:solidFill>
                  <a:srgbClr val="101820"/>
                </a:solidFill>
              </a:defRPr>
            </a:pPr>
            <a:r>
              <a:rPr sz="6600" b="1">
                <a:solidFill>
                  <a:srgbClr val="101820"/>
                </a:solidFill>
              </a:rPr>
              <a:t>not</a:t>
            </a:r>
          </a:p>
        </p:txBody>
      </p:sp>
      <p:sp>
        <p:nvSpPr>
          <p:cNvPr id="8" name="cover-title-3">
            <a:extLst>
              <a:ext uri="{FF2B5EF4-FFF2-40B4-BE49-F238E27FC236}">
                <a16:creationId xmlns:a16="http://schemas.microsoft.com/office/drawing/2014/main" id="{A40A0A78-6FC1-4105-AA37-E393C78E58EF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85725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600" b="1">
                <a:solidFill>
                  <a:srgbClr val="101820"/>
                </a:solidFill>
              </a:defRPr>
            </a:pPr>
            <a:r>
              <a:rPr sz="6600" b="1">
                <a:solidFill>
                  <a:srgbClr val="101820"/>
                </a:solidFill>
              </a:rPr>
              <a:t>a shortcut</a:t>
            </a:r>
          </a:p>
        </p:txBody>
      </p:sp>
      <p:sp>
        <p:nvSpPr>
          <p:cNvPr id="9" name="cover-subtitle">
            <a:extLst>
              <a:ext uri="{FF2B5EF4-FFF2-40B4-BE49-F238E27FC236}">
                <a16:creationId xmlns:a16="http://schemas.microsoft.com/office/drawing/2014/main" id="{3442EB5C-8F3E-4E13-A406-A001339847E0}"/>
              </a:ext>
            </a:extLst>
          </p:cNvPr>
          <p:cNvSpPr>
            <a:spLocks noGrp="1"/>
          </p:cNvSpPr>
          <p:nvPr/>
        </p:nvSpPr>
        <p:spPr>
          <a:xfrm>
            <a:off x="1047750" y="5619750"/>
            <a:ext cx="85725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53616C"/>
                </a:solidFill>
              </a:defRPr>
            </a:pPr>
            <a:r>
              <a:rPr sz="2400">
                <a:solidFill>
                  <a:srgbClr val="53616C"/>
                </a:solidFill>
              </a:rPr>
              <a:t>Public tracking data is exciting, but leaderboards need context before they can evaluate hockey performance.</a:t>
            </a:r>
          </a:p>
        </p:txBody>
      </p:sp>
      <p:sp>
        <p:nvSpPr>
          <p:cNvPr id="10" name="cover-rule">
            <a:extLst>
              <a:ext uri="{FF2B5EF4-FFF2-40B4-BE49-F238E27FC236}">
                <a16:creationId xmlns:a16="http://schemas.microsoft.com/office/drawing/2014/main" id="{4005B983-B93F-4E7B-A14A-6AFBFE5442F4}"/>
              </a:ext>
            </a:extLst>
          </p:cNvPr>
          <p:cNvSpPr>
            <a:spLocks noGrp="1"/>
          </p:cNvSpPr>
          <p:nvPr/>
        </p:nvSpPr>
        <p:spPr>
          <a:xfrm>
            <a:off x="1047750" y="6858000"/>
            <a:ext cx="3048000" cy="76200"/>
          </a:xfrm>
          <a:prstGeom prst="rect">
            <a:avLst/>
          </a:prstGeom>
          <a:solidFill>
            <a:srgbClr val="FF6B2C"/>
          </a:solidFill>
          <a:ln w="0">
            <a:solidFill>
              <a:srgbClr val="FF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ver-meta">
            <a:extLst>
              <a:ext uri="{FF2B5EF4-FFF2-40B4-BE49-F238E27FC236}">
                <a16:creationId xmlns:a16="http://schemas.microsoft.com/office/drawing/2014/main" id="{40DCA89F-9D0F-49F9-B2FE-2A1746798E28}"/>
              </a:ext>
            </a:extLst>
          </p:cNvPr>
          <p:cNvSpPr>
            <a:spLocks noGrp="1"/>
          </p:cNvSpPr>
          <p:nvPr/>
        </p:nvSpPr>
        <p:spPr>
          <a:xfrm>
            <a:off x="1047750" y="7315200"/>
            <a:ext cx="413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7A8A96"/>
                </a:solidFill>
              </a:defRPr>
            </a:pPr>
            <a:r>
              <a:rPr sz="1500">
                <a:solidFill>
                  <a:srgbClr val="7A8A96"/>
                </a:solidFill>
              </a:rPr>
              <a:t>DAT 201 Presentation 2 | Rento Saijo | April 2026</a:t>
            </a:r>
          </a:p>
        </p:txBody>
      </p:sp>
      <p:sp>
        <p:nvSpPr>
          <p:cNvPr id="12" name="cover-orbit">
            <a:extLst>
              <a:ext uri="{FF2B5EF4-FFF2-40B4-BE49-F238E27FC236}">
                <a16:creationId xmlns:a16="http://schemas.microsoft.com/office/drawing/2014/main" id="{C873E95D-D7C9-4CE0-963B-28C1590A7B6A}"/>
              </a:ext>
            </a:extLst>
          </p:cNvPr>
          <p:cNvSpPr>
            <a:spLocks noGrp="1"/>
          </p:cNvSpPr>
          <p:nvPr/>
        </p:nvSpPr>
        <p:spPr>
          <a:xfrm>
            <a:off x="11658600" y="1371600"/>
            <a:ext cx="6191250" cy="6191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over-inner-orbit">
            <a:extLst>
              <a:ext uri="{FF2B5EF4-FFF2-40B4-BE49-F238E27FC236}">
                <a16:creationId xmlns:a16="http://schemas.microsoft.com/office/drawing/2014/main" id="{9617DA73-DB4F-405A-9AA8-7102687B0277}"/>
              </a:ext>
            </a:extLst>
          </p:cNvPr>
          <p:cNvSpPr>
            <a:spLocks noGrp="1"/>
          </p:cNvSpPr>
          <p:nvPr/>
        </p:nvSpPr>
        <p:spPr>
          <a:xfrm>
            <a:off x="11658600" y="1371600"/>
            <a:ext cx="4095750" cy="4095750"/>
          </a:xfrm>
          <a:prstGeom prst="ellipse">
            <a:avLst/>
          </a:prstGeom>
          <a:solidFill>
            <a:srgbClr val="F6FAFC"/>
          </a:solidFill>
          <a:ln w="19050">
            <a:solidFill>
              <a:srgbClr val="DC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headshot-847840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39650" y="1790700"/>
            <a:ext cx="3619500" cy="3619500"/>
          </a:xfrm>
          <a:prstGeom prst="rect">
            <a:avLst/>
          </a:prstGeom>
        </p:spPr>
      </p:pic>
      <p:pic>
        <p:nvPicPr>
          <p:cNvPr id="15" name="headshot-8480015-small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172950" y="6667500"/>
            <a:ext cx="1524000" cy="1524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083E389-B81D-4B6F-A841-E81396315480}"/>
              </a:ext>
            </a:extLst>
          </p:cNvPr>
          <p:cNvSpPr>
            <a:spLocks noGrp="1"/>
          </p:cNvSpPr>
          <p:nvPr/>
        </p:nvSpPr>
        <p:spPr>
          <a:xfrm>
            <a:off x="11715750" y="8248650"/>
            <a:ext cx="2438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Owen Tippett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584509-3614-4EED-8390-187552273334}"/>
              </a:ext>
            </a:extLst>
          </p:cNvPr>
          <p:cNvSpPr>
            <a:spLocks noGrp="1"/>
          </p:cNvSpPr>
          <p:nvPr/>
        </p:nvSpPr>
        <p:spPr>
          <a:xfrm>
            <a:off x="11715750" y="8496300"/>
            <a:ext cx="2438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F6B2C"/>
                </a:solidFill>
              </a:defRPr>
            </a:pPr>
            <a:r>
              <a:rPr sz="1350">
                <a:solidFill>
                  <a:srgbClr val="FF6B2C"/>
                </a:solidFill>
              </a:rPr>
              <a:t>#123 in points</a:t>
            </a:r>
          </a:p>
        </p:txBody>
      </p:sp>
      <p:pic>
        <p:nvPicPr>
          <p:cNvPr id="18" name="headshot-8476981-small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4820900" y="6667500"/>
            <a:ext cx="1524000" cy="1524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1F4D707-A8C6-4797-B98A-256BDF15FCD0}"/>
              </a:ext>
            </a:extLst>
          </p:cNvPr>
          <p:cNvSpPr>
            <a:spLocks noGrp="1"/>
          </p:cNvSpPr>
          <p:nvPr/>
        </p:nvSpPr>
        <p:spPr>
          <a:xfrm>
            <a:off x="14363700" y="8248650"/>
            <a:ext cx="2438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Josh Anderson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7172E7-0005-4069-B4DB-0E7F253CDA9D}"/>
              </a:ext>
            </a:extLst>
          </p:cNvPr>
          <p:cNvSpPr>
            <a:spLocks noGrp="1"/>
          </p:cNvSpPr>
          <p:nvPr/>
        </p:nvSpPr>
        <p:spPr>
          <a:xfrm>
            <a:off x="14363700" y="8496300"/>
            <a:ext cx="2438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F6B2C"/>
                </a:solidFill>
              </a:defRPr>
            </a:pPr>
            <a:r>
              <a:rPr sz="1350">
                <a:solidFill>
                  <a:srgbClr val="FF6B2C"/>
                </a:solidFill>
              </a:rPr>
              <a:t>#369 in points</a:t>
            </a:r>
          </a:p>
        </p:txBody>
      </p:sp>
    </p:spTree>
    <p:extLst>
      <p:ext uri="{BB962C8B-B14F-4D97-AF65-F5344CB8AC3E}">
        <p14:creationId xmlns:p14="http://schemas.microsoft.com/office/powerpoint/2010/main" val="1160154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ce-background">
            <a:extLst>
              <a:ext uri="{FF2B5EF4-FFF2-40B4-BE49-F238E27FC236}">
                <a16:creationId xmlns:a16="http://schemas.microsoft.com/office/drawing/2014/main" id="{F222C2EB-F4B5-4DC2-A4A9-C60BDC88DB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ink-line">
            <a:extLst>
              <a:ext uri="{FF2B5EF4-FFF2-40B4-BE49-F238E27FC236}">
                <a16:creationId xmlns:a16="http://schemas.microsoft.com/office/drawing/2014/main" id="{99F2F562-A30B-44D2-A747-1D155CDDA9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E7C66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aint-blue-line">
            <a:extLst>
              <a:ext uri="{FF2B5EF4-FFF2-40B4-BE49-F238E27FC236}">
                <a16:creationId xmlns:a16="http://schemas.microsoft.com/office/drawing/2014/main" id="{C6E9BBAF-6161-494C-AE40-D59B9C23373E}"/>
              </a:ext>
            </a:extLst>
          </p:cNvPr>
          <p:cNvSpPr>
            <a:spLocks noGrp="1"/>
          </p:cNvSpPr>
          <p:nvPr/>
        </p:nvSpPr>
        <p:spPr>
          <a:xfrm>
            <a:off x="2971800" y="0"/>
            <a:ext cx="57150" cy="10287000"/>
          </a:xfrm>
          <a:prstGeom prst="rect">
            <a:avLst/>
          </a:prstGeom>
          <a:solidFill>
            <a:srgbClr val="DCE7EE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aint-red-line">
            <a:extLst>
              <a:ext uri="{FF2B5EF4-FFF2-40B4-BE49-F238E27FC236}">
                <a16:creationId xmlns:a16="http://schemas.microsoft.com/office/drawing/2014/main" id="{ADBB2F67-9D53-4C3C-A928-1895F270356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38100" cy="10287000"/>
          </a:xfrm>
          <a:prstGeom prst="rect">
            <a:avLst/>
          </a:prstGeom>
          <a:solidFill>
            <a:srgbClr val="F0C7C2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855EF-F9CD-4AC0-BEF5-CE8090C70B41}"/>
              </a:ext>
            </a:extLst>
          </p:cNvPr>
          <p:cNvSpPr>
            <a:spLocks noGrp="1"/>
          </p:cNvSpPr>
          <p:nvPr/>
        </p:nvSpPr>
        <p:spPr>
          <a:xfrm>
            <a:off x="1123950" y="1028700"/>
            <a:ext cx="2857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E7C66"/>
                </a:solidFill>
              </a:defRPr>
            </a:pPr>
            <a:r>
              <a:rPr sz="1950" b="1">
                <a:solidFill>
                  <a:srgbClr val="0E7C66"/>
                </a:solidFill>
              </a:rPr>
              <a:t>Thesis</a:t>
            </a:r>
          </a:p>
        </p:txBody>
      </p:sp>
      <p:sp>
        <p:nvSpPr>
          <p:cNvPr id="6" name="thesis-statement">
            <a:extLst>
              <a:ext uri="{FF2B5EF4-FFF2-40B4-BE49-F238E27FC236}">
                <a16:creationId xmlns:a16="http://schemas.microsoft.com/office/drawing/2014/main" id="{BACF7418-6218-43FE-9854-6DBAF5D64455}"/>
              </a:ext>
            </a:extLst>
          </p:cNvPr>
          <p:cNvSpPr>
            <a:spLocks noGrp="1"/>
          </p:cNvSpPr>
          <p:nvPr/>
        </p:nvSpPr>
        <p:spPr>
          <a:xfrm>
            <a:off x="1123950" y="1676400"/>
            <a:ext cx="13982700" cy="2438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800" b="1">
                <a:solidFill>
                  <a:srgbClr val="101820"/>
                </a:solidFill>
              </a:defRPr>
            </a:pPr>
            <a:r>
              <a:rPr sz="4800" b="1">
                <a:solidFill>
                  <a:srgbClr val="101820"/>
                </a:solidFill>
              </a:rPr>
              <a:t>NHL EDGE speed data is publicly interesting but analytically incomplete: without context, speed-burst leaderboards describe a skating trait more than they evaluate performance.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C066E3-78B9-42FE-B0C0-60462CC79211}"/>
              </a:ext>
            </a:extLst>
          </p:cNvPr>
          <p:cNvSpPr>
            <a:spLocks noGrp="1"/>
          </p:cNvSpPr>
          <p:nvPr/>
        </p:nvSpPr>
        <p:spPr>
          <a:xfrm>
            <a:off x="1238250" y="6305550"/>
            <a:ext cx="4933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00A8E8"/>
                </a:solidFill>
              </a:defRPr>
            </a:pPr>
            <a:r>
              <a:rPr sz="5400" b="1">
                <a:solidFill>
                  <a:srgbClr val="00A8E8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37331B-936F-4AF2-BC3C-1C586C47EB9A}"/>
              </a:ext>
            </a:extLst>
          </p:cNvPr>
          <p:cNvSpPr>
            <a:spLocks noGrp="1"/>
          </p:cNvSpPr>
          <p:nvPr/>
        </p:nvSpPr>
        <p:spPr>
          <a:xfrm>
            <a:off x="1238250" y="7048500"/>
            <a:ext cx="49339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C"/>
                </a:solidFill>
              </a:defRPr>
            </a:pPr>
            <a:r>
              <a:rPr sz="1500">
                <a:solidFill>
                  <a:srgbClr val="53616C"/>
                </a:solidFill>
              </a:rPr>
              <a:t>Describe the skating trait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19797F-D561-4068-A0BE-AC2F56EBD1D0}"/>
              </a:ext>
            </a:extLst>
          </p:cNvPr>
          <p:cNvSpPr>
            <a:spLocks noGrp="1"/>
          </p:cNvSpPr>
          <p:nvPr/>
        </p:nvSpPr>
        <p:spPr>
          <a:xfrm>
            <a:off x="6686550" y="6305550"/>
            <a:ext cx="4933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6B2C"/>
                </a:solidFill>
              </a:defRPr>
            </a:pPr>
            <a:r>
              <a:rPr sz="5400" b="1">
                <a:solidFill>
                  <a:srgbClr val="FF6B2C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DD916C-A967-4D46-B527-FC056CF26BEC}"/>
              </a:ext>
            </a:extLst>
          </p:cNvPr>
          <p:cNvSpPr>
            <a:spLocks noGrp="1"/>
          </p:cNvSpPr>
          <p:nvPr/>
        </p:nvSpPr>
        <p:spPr>
          <a:xfrm>
            <a:off x="6686550" y="7048500"/>
            <a:ext cx="49339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C"/>
                </a:solidFill>
              </a:defRPr>
            </a:pPr>
            <a:r>
              <a:rPr sz="1500">
                <a:solidFill>
                  <a:srgbClr val="53616C"/>
                </a:solidFill>
              </a:rPr>
              <a:t>Add game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0B43A0-3719-4042-A9CA-EED8C243F4ED}"/>
              </a:ext>
            </a:extLst>
          </p:cNvPr>
          <p:cNvSpPr>
            <a:spLocks noGrp="1"/>
          </p:cNvSpPr>
          <p:nvPr/>
        </p:nvSpPr>
        <p:spPr>
          <a:xfrm>
            <a:off x="12115800" y="6305550"/>
            <a:ext cx="4933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0E7C66"/>
                </a:solidFill>
              </a:defRPr>
            </a:pPr>
            <a:r>
              <a:rPr sz="5400" b="1">
                <a:solidFill>
                  <a:srgbClr val="0E7C66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214D67-50B9-4438-B6F6-D4AD22A392D5}"/>
              </a:ext>
            </a:extLst>
          </p:cNvPr>
          <p:cNvSpPr>
            <a:spLocks noGrp="1"/>
          </p:cNvSpPr>
          <p:nvPr/>
        </p:nvSpPr>
        <p:spPr>
          <a:xfrm>
            <a:off x="12115800" y="7048500"/>
            <a:ext cx="49339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C"/>
                </a:solidFill>
              </a:defRPr>
            </a:pPr>
            <a:r>
              <a:rPr sz="1500">
                <a:solidFill>
                  <a:srgbClr val="53616C"/>
                </a:solidFill>
              </a:rPr>
              <a:t>Then judge performance</a:t>
            </a:r>
          </a:p>
        </p:txBody>
      </p:sp>
    </p:spTree>
    <p:extLst>
      <p:ext uri="{BB962C8B-B14F-4D97-AF65-F5344CB8AC3E}">
        <p14:creationId xmlns:p14="http://schemas.microsoft.com/office/powerpoint/2010/main" val="182268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ce-background">
            <a:extLst>
              <a:ext uri="{FF2B5EF4-FFF2-40B4-BE49-F238E27FC236}">
                <a16:creationId xmlns:a16="http://schemas.microsoft.com/office/drawing/2014/main" id="{0850D8D5-C561-4E4C-8271-FF8849D255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ink-line">
            <a:extLst>
              <a:ext uri="{FF2B5EF4-FFF2-40B4-BE49-F238E27FC236}">
                <a16:creationId xmlns:a16="http://schemas.microsoft.com/office/drawing/2014/main" id="{80781688-4888-41F3-A9C3-8EE01078D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A8E8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aint-blue-line">
            <a:extLst>
              <a:ext uri="{FF2B5EF4-FFF2-40B4-BE49-F238E27FC236}">
                <a16:creationId xmlns:a16="http://schemas.microsoft.com/office/drawing/2014/main" id="{261E87F4-D330-459F-8FF3-925A1F9D6FAB}"/>
              </a:ext>
            </a:extLst>
          </p:cNvPr>
          <p:cNvSpPr>
            <a:spLocks noGrp="1"/>
          </p:cNvSpPr>
          <p:nvPr/>
        </p:nvSpPr>
        <p:spPr>
          <a:xfrm>
            <a:off x="2971800" y="0"/>
            <a:ext cx="57150" cy="10287000"/>
          </a:xfrm>
          <a:prstGeom prst="rect">
            <a:avLst/>
          </a:prstGeom>
          <a:solidFill>
            <a:srgbClr val="DCE7EE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aint-red-line">
            <a:extLst>
              <a:ext uri="{FF2B5EF4-FFF2-40B4-BE49-F238E27FC236}">
                <a16:creationId xmlns:a16="http://schemas.microsoft.com/office/drawing/2014/main" id="{70BA8B98-DF45-4FF6-A3E8-67E99DA627A0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38100" cy="10287000"/>
          </a:xfrm>
          <a:prstGeom prst="rect">
            <a:avLst/>
          </a:prstGeom>
          <a:solidFill>
            <a:srgbClr val="F0C7C2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2E3B7F79-E302-40B7-8FBA-7D07834DEF1E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42875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01820"/>
                </a:solidFill>
              </a:defRPr>
            </a:pPr>
            <a:r>
              <a:rPr sz="4950" b="1">
                <a:solidFill>
                  <a:srgbClr val="101820"/>
                </a:solidFill>
              </a:rPr>
              <a:t>Data I used</a:t>
            </a:r>
          </a:p>
        </p:txBody>
      </p:sp>
      <p:sp>
        <p:nvSpPr>
          <p:cNvPr id="6" name="title-rule">
            <a:extLst>
              <a:ext uri="{FF2B5EF4-FFF2-40B4-BE49-F238E27FC236}">
                <a16:creationId xmlns:a16="http://schemas.microsoft.com/office/drawing/2014/main" id="{EFE86E4D-7143-4CFC-A654-C1FCAA923080}"/>
              </a:ext>
            </a:extLst>
          </p:cNvPr>
          <p:cNvSpPr>
            <a:spLocks noGrp="1"/>
          </p:cNvSpPr>
          <p:nvPr/>
        </p:nvSpPr>
        <p:spPr>
          <a:xfrm>
            <a:off x="914400" y="1485900"/>
            <a:ext cx="2000250" cy="57150"/>
          </a:xfrm>
          <a:prstGeom prst="rect">
            <a:avLst/>
          </a:prstGeom>
          <a:solidFill>
            <a:srgbClr val="00A8E8"/>
          </a:solidFill>
          <a:ln w="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82F110AD-11E3-4A54-9F4F-A82C90B70AD2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10420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53616C"/>
                </a:solidFill>
              </a:defRPr>
            </a:pPr>
            <a:r>
              <a:rPr sz="2250">
                <a:solidFill>
                  <a:srgbClr val="53616C"/>
                </a:solidFill>
              </a:rPr>
              <a:t>Two public NHL sources, joined to test whether speed bursts line up with scoring.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6D54D5-6884-471B-B6D7-EE924AE9C049}"/>
              </a:ext>
            </a:extLst>
          </p:cNvPr>
          <p:cNvSpPr>
            <a:spLocks noGrp="1"/>
          </p:cNvSpPr>
          <p:nvPr/>
        </p:nvSpPr>
        <p:spPr>
          <a:xfrm>
            <a:off x="1333500" y="3257550"/>
            <a:ext cx="7448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0A8E8"/>
                </a:solidFill>
              </a:defRPr>
            </a:pPr>
            <a:r>
              <a:rPr sz="2700" b="1">
                <a:solidFill>
                  <a:srgbClr val="00A8E8"/>
                </a:solidFill>
              </a:rPr>
              <a:t>Source A: NHL EDGE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0ED01E-CCEA-4A64-A476-0EA1D49D5734}"/>
              </a:ext>
            </a:extLst>
          </p:cNvPr>
          <p:cNvSpPr>
            <a:spLocks noGrp="1"/>
          </p:cNvSpPr>
          <p:nvPr/>
        </p:nvSpPr>
        <p:spPr>
          <a:xfrm>
            <a:off x="1333500" y="3810000"/>
            <a:ext cx="744855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>
                <a:solidFill>
                  <a:srgbClr val="101820"/>
                </a:solidFill>
              </a:defRPr>
            </a:pPr>
            <a:r>
              <a:rPr sz="2325">
                <a:solidFill>
                  <a:srgbClr val="101820"/>
                </a:solidFill>
              </a:rPr>
              <a:t>2025-26 regular-season skater leaderboard for 22+ mph speed bursts.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A69F7F-C5A0-4EC0-9CBF-BD08ABCC0AEF}"/>
              </a:ext>
            </a:extLst>
          </p:cNvPr>
          <p:cNvSpPr>
            <a:spLocks noGrp="1"/>
          </p:cNvSpPr>
          <p:nvPr/>
        </p:nvSpPr>
        <p:spPr>
          <a:xfrm>
            <a:off x="1333500" y="4610100"/>
            <a:ext cx="74485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3616C"/>
                </a:solidFill>
              </a:defRPr>
            </a:pPr>
            <a:r>
              <a:rPr sz="1875">
                <a:solidFill>
                  <a:srgbClr val="53616C"/>
                </a:solidFill>
              </a:rPr>
              <a:t>This is public player-tracking output: not raw coordinates, but a curated leaderboard derived from tracking.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A0D00-AF1B-4E06-9B36-57B5DDE9C247}"/>
              </a:ext>
            </a:extLst>
          </p:cNvPr>
          <p:cNvSpPr>
            <a:spLocks noGrp="1"/>
          </p:cNvSpPr>
          <p:nvPr/>
        </p:nvSpPr>
        <p:spPr>
          <a:xfrm>
            <a:off x="9525000" y="3257550"/>
            <a:ext cx="7448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FF6B2C"/>
                </a:solidFill>
              </a:defRPr>
            </a:pPr>
            <a:r>
              <a:rPr sz="2700" b="1">
                <a:solidFill>
                  <a:srgbClr val="FF6B2C"/>
                </a:solidFill>
              </a:rPr>
              <a:t>Source B: NHL stats 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E7AB5F-316E-42CB-AA70-8BC76CE3CD98}"/>
              </a:ext>
            </a:extLst>
          </p:cNvPr>
          <p:cNvSpPr>
            <a:spLocks noGrp="1"/>
          </p:cNvSpPr>
          <p:nvPr/>
        </p:nvSpPr>
        <p:spPr>
          <a:xfrm>
            <a:off x="9525000" y="3810000"/>
            <a:ext cx="744855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>
                <a:solidFill>
                  <a:srgbClr val="101820"/>
                </a:solidFill>
              </a:defRPr>
            </a:pPr>
            <a:r>
              <a:rPr sz="2325">
                <a:solidFill>
                  <a:srgbClr val="101820"/>
                </a:solidFill>
              </a:rPr>
              <a:t>All-skaters points leaderboard for the same season and game type.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8B10B5-E31D-476F-9B97-4D9F630C7730}"/>
              </a:ext>
            </a:extLst>
          </p:cNvPr>
          <p:cNvSpPr>
            <a:spLocks noGrp="1"/>
          </p:cNvSpPr>
          <p:nvPr/>
        </p:nvSpPr>
        <p:spPr>
          <a:xfrm>
            <a:off x="9525000" y="4610100"/>
            <a:ext cx="74485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3616C"/>
                </a:solidFill>
              </a:defRPr>
            </a:pPr>
            <a:r>
              <a:rPr sz="1875">
                <a:solidFill>
                  <a:srgbClr val="53616C"/>
                </a:solidFill>
              </a:rPr>
              <a:t>I joined by player ID, then compared speed-burst rank with points rank.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F5AC6F-AA62-4034-9810-FCB486425F15}"/>
              </a:ext>
            </a:extLst>
          </p:cNvPr>
          <p:cNvSpPr>
            <a:spLocks noGrp="1"/>
          </p:cNvSpPr>
          <p:nvPr/>
        </p:nvSpPr>
        <p:spPr>
          <a:xfrm>
            <a:off x="1619250" y="7143750"/>
            <a:ext cx="45148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00A8E8"/>
                </a:solidFill>
              </a:defRPr>
            </a:pPr>
            <a:r>
              <a:rPr sz="5400" b="1">
                <a:solidFill>
                  <a:srgbClr val="00A8E8"/>
                </a:solidFill>
              </a:rPr>
              <a:t>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C5DB7-41A4-400A-B01F-60CE948750D0}"/>
              </a:ext>
            </a:extLst>
          </p:cNvPr>
          <p:cNvSpPr>
            <a:spLocks noGrp="1"/>
          </p:cNvSpPr>
          <p:nvPr/>
        </p:nvSpPr>
        <p:spPr>
          <a:xfrm>
            <a:off x="1619250" y="7886700"/>
            <a:ext cx="4514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C"/>
                </a:solidFill>
              </a:defRPr>
            </a:pPr>
            <a:r>
              <a:rPr sz="1500">
                <a:solidFill>
                  <a:srgbClr val="53616C"/>
                </a:solidFill>
              </a:rPr>
              <a:t>top speed-burst skaters analyzed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C67770-E69F-44BE-A931-2AED6080068C}"/>
              </a:ext>
            </a:extLst>
          </p:cNvPr>
          <p:cNvSpPr>
            <a:spLocks noGrp="1"/>
          </p:cNvSpPr>
          <p:nvPr/>
        </p:nvSpPr>
        <p:spPr>
          <a:xfrm>
            <a:off x="6800850" y="7143750"/>
            <a:ext cx="45148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6B2C"/>
                </a:solidFill>
              </a:defRPr>
            </a:pPr>
            <a:r>
              <a:rPr sz="5400" b="1">
                <a:solidFill>
                  <a:srgbClr val="FF6B2C"/>
                </a:solidFill>
              </a:rPr>
              <a:t>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61C646-5799-4E9D-A724-342A575E7FAB}"/>
              </a:ext>
            </a:extLst>
          </p:cNvPr>
          <p:cNvSpPr>
            <a:spLocks noGrp="1"/>
          </p:cNvSpPr>
          <p:nvPr/>
        </p:nvSpPr>
        <p:spPr>
          <a:xfrm>
            <a:off x="6800850" y="7886700"/>
            <a:ext cx="4514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C"/>
                </a:solidFill>
              </a:defRPr>
            </a:pPr>
            <a:r>
              <a:rPr sz="1500">
                <a:solidFill>
                  <a:srgbClr val="53616C"/>
                </a:solidFill>
              </a:rPr>
              <a:t>outside top 50 in points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DA247C-5711-4E99-A518-2502CE87C5CD}"/>
              </a:ext>
            </a:extLst>
          </p:cNvPr>
          <p:cNvSpPr>
            <a:spLocks noGrp="1"/>
          </p:cNvSpPr>
          <p:nvPr/>
        </p:nvSpPr>
        <p:spPr>
          <a:xfrm>
            <a:off x="11963400" y="7143750"/>
            <a:ext cx="45148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0E7C66"/>
                </a:solidFill>
              </a:defRPr>
            </a:pPr>
            <a:r>
              <a:rPr sz="5400" b="1">
                <a:solidFill>
                  <a:srgbClr val="0E7C66"/>
                </a:solidFill>
              </a:rPr>
              <a:t>Apr. 24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A484CB-F521-4F2E-8950-1924E8E65A20}"/>
              </a:ext>
            </a:extLst>
          </p:cNvPr>
          <p:cNvSpPr>
            <a:spLocks noGrp="1"/>
          </p:cNvSpPr>
          <p:nvPr/>
        </p:nvSpPr>
        <p:spPr>
          <a:xfrm>
            <a:off x="11963400" y="7886700"/>
            <a:ext cx="4514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C"/>
                </a:solidFill>
              </a:defRPr>
            </a:pPr>
            <a:r>
              <a:rPr sz="1500">
                <a:solidFill>
                  <a:srgbClr val="53616C"/>
                </a:solidFill>
              </a:rPr>
              <a:t>2026 data access date</a:t>
            </a:r>
          </a:p>
        </p:txBody>
      </p:sp>
      <p:sp>
        <p:nvSpPr>
          <p:cNvPr id="20" name="source">
            <a:extLst>
              <a:ext uri="{FF2B5EF4-FFF2-40B4-BE49-F238E27FC236}">
                <a16:creationId xmlns:a16="http://schemas.microsoft.com/office/drawing/2014/main" id="{8A18D10F-30E9-4006-A886-FB2A0F04F756}"/>
              </a:ext>
            </a:extLst>
          </p:cNvPr>
          <p:cNvSpPr>
            <a:spLocks noGrp="1"/>
          </p:cNvSpPr>
          <p:nvPr/>
        </p:nvSpPr>
        <p:spPr>
          <a:xfrm>
            <a:off x="914400" y="9696450"/>
            <a:ext cx="6324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1818B"/>
                </a:solidFill>
              </a:defRPr>
            </a:pPr>
            <a:r>
              <a:rPr sz="1050">
                <a:solidFill>
                  <a:srgbClr val="71818B"/>
                </a:solidFill>
              </a:rPr>
              <a:t>Sources: NHL EDGE skater speed leaderboard and NHL skater stats leaders API, 2025-26 regular season.</a:t>
            </a:r>
          </a:p>
        </p:txBody>
      </p:sp>
    </p:spTree>
    <p:extLst>
      <p:ext uri="{BB962C8B-B14F-4D97-AF65-F5344CB8AC3E}">
        <p14:creationId xmlns:p14="http://schemas.microsoft.com/office/powerpoint/2010/main" val="174180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ce-background">
            <a:extLst>
              <a:ext uri="{FF2B5EF4-FFF2-40B4-BE49-F238E27FC236}">
                <a16:creationId xmlns:a16="http://schemas.microsoft.com/office/drawing/2014/main" id="{F083D82E-7A79-4BCF-A443-D1BC0CCA8111}"/>
              </a:ext>
            </a:extLst>
          </p:cNvPr>
          <p:cNvSpPr>
            <a:spLocks noGrp="1"/>
          </p:cNvSpPr>
          <p:nvPr/>
        </p:nvSpPr>
        <p:spPr>
          <a:xfrm>
            <a:off x="0" y="29076"/>
            <a:ext cx="18288000" cy="10287000"/>
          </a:xfrm>
          <a:prstGeom prst="rect">
            <a:avLst/>
          </a:prstGeom>
          <a:solidFill>
            <a:srgbClr val="F6FAF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ink-line">
            <a:extLst>
              <a:ext uri="{FF2B5EF4-FFF2-40B4-BE49-F238E27FC236}">
                <a16:creationId xmlns:a16="http://schemas.microsoft.com/office/drawing/2014/main" id="{5C9BFD00-83AC-4D1E-84B7-4CD8952F52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FF6B2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aint-blue-line">
            <a:extLst>
              <a:ext uri="{FF2B5EF4-FFF2-40B4-BE49-F238E27FC236}">
                <a16:creationId xmlns:a16="http://schemas.microsoft.com/office/drawing/2014/main" id="{98748238-B401-4ABB-9EEB-56912440CE5D}"/>
              </a:ext>
            </a:extLst>
          </p:cNvPr>
          <p:cNvSpPr>
            <a:spLocks noGrp="1"/>
          </p:cNvSpPr>
          <p:nvPr/>
        </p:nvSpPr>
        <p:spPr>
          <a:xfrm>
            <a:off x="2971800" y="0"/>
            <a:ext cx="57150" cy="10287000"/>
          </a:xfrm>
          <a:prstGeom prst="rect">
            <a:avLst/>
          </a:prstGeom>
          <a:solidFill>
            <a:srgbClr val="DCE7EE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aint-red-line">
            <a:extLst>
              <a:ext uri="{FF2B5EF4-FFF2-40B4-BE49-F238E27FC236}">
                <a16:creationId xmlns:a16="http://schemas.microsoft.com/office/drawing/2014/main" id="{8531754F-E5BB-4BE1-90CE-FAB8AF772670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38100" cy="10287000"/>
          </a:xfrm>
          <a:prstGeom prst="rect">
            <a:avLst/>
          </a:prstGeom>
          <a:solidFill>
            <a:srgbClr val="F0C7C2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097DDCA0-2346-4052-99BB-C63738272F1E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42875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01820"/>
                </a:solidFill>
              </a:defRPr>
            </a:pPr>
            <a:r>
              <a:rPr sz="4950" b="1">
                <a:solidFill>
                  <a:srgbClr val="101820"/>
                </a:solidFill>
              </a:rPr>
              <a:t>The leaderboard mixes different players</a:t>
            </a:r>
          </a:p>
        </p:txBody>
      </p:sp>
      <p:sp>
        <p:nvSpPr>
          <p:cNvPr id="6" name="title-rule">
            <a:extLst>
              <a:ext uri="{FF2B5EF4-FFF2-40B4-BE49-F238E27FC236}">
                <a16:creationId xmlns:a16="http://schemas.microsoft.com/office/drawing/2014/main" id="{1B7A9500-92EE-4B66-8330-8375C433B32A}"/>
              </a:ext>
            </a:extLst>
          </p:cNvPr>
          <p:cNvSpPr>
            <a:spLocks noGrp="1"/>
          </p:cNvSpPr>
          <p:nvPr/>
        </p:nvSpPr>
        <p:spPr>
          <a:xfrm>
            <a:off x="914400" y="1485900"/>
            <a:ext cx="2000250" cy="57150"/>
          </a:xfrm>
          <a:prstGeom prst="rect">
            <a:avLst/>
          </a:prstGeom>
          <a:solidFill>
            <a:srgbClr val="00A8E8"/>
          </a:solidFill>
          <a:ln w="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CE263811-2254-4C80-9C55-33663425EEBF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10896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53616C"/>
                </a:solidFill>
              </a:defRPr>
            </a:pPr>
            <a:r>
              <a:rPr sz="2250">
                <a:solidFill>
                  <a:srgbClr val="53616C"/>
                </a:solidFill>
              </a:rPr>
              <a:t>Some speed leaders are elite scorers. Others are far from the top of the scoring table.</a:t>
            </a:r>
          </a:p>
        </p:txBody>
      </p:sp>
      <p:graphicFrame>
        <p:nvGraphicFramePr>
          <p:cNvPr id="8" name="chart-speed-bursts"/>
          <p:cNvGraphicFramePr/>
          <p:nvPr/>
        </p:nvGraphicFramePr>
        <p:xfrm>
          <a:off x="857250" y="2952750"/>
          <a:ext cx="10953750" cy="581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67B587D-F5A4-4127-AF86-CDA3BACDE360}"/>
              </a:ext>
            </a:extLst>
          </p:cNvPr>
          <p:cNvSpPr>
            <a:spLocks noGrp="1"/>
          </p:cNvSpPr>
          <p:nvPr/>
        </p:nvSpPr>
        <p:spPr>
          <a:xfrm>
            <a:off x="12573000" y="3257550"/>
            <a:ext cx="4476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6B2C"/>
                </a:solidFill>
              </a:defRPr>
            </a:pPr>
            <a:r>
              <a:rPr sz="1800" b="1">
                <a:solidFill>
                  <a:srgbClr val="FF6B2C"/>
                </a:solidFill>
              </a:rPr>
              <a:t>Key read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D984CA-B9D8-483F-9ECA-1AA012C8C23B}"/>
              </a:ext>
            </a:extLst>
          </p:cNvPr>
          <p:cNvSpPr>
            <a:spLocks noGrp="1"/>
          </p:cNvSpPr>
          <p:nvPr/>
        </p:nvSpPr>
        <p:spPr>
          <a:xfrm>
            <a:off x="12573000" y="3657600"/>
            <a:ext cx="44767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600" b="1">
                <a:solidFill>
                  <a:srgbClr val="101820"/>
                </a:solidFill>
              </a:defRPr>
            </a:pPr>
            <a:r>
              <a:rPr sz="6600" b="1">
                <a:solidFill>
                  <a:srgbClr val="101820"/>
                </a:solidFill>
              </a:rPr>
              <a:t>6 of 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0994A7-89D2-4786-9CB7-CD68F895ACD5}"/>
              </a:ext>
            </a:extLst>
          </p:cNvPr>
          <p:cNvSpPr>
            <a:spLocks noGrp="1"/>
          </p:cNvSpPr>
          <p:nvPr/>
        </p:nvSpPr>
        <p:spPr>
          <a:xfrm>
            <a:off x="12573000" y="4667250"/>
            <a:ext cx="4476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101820"/>
                </a:solidFill>
              </a:defRPr>
            </a:pPr>
            <a:r>
              <a:rPr sz="2250">
                <a:solidFill>
                  <a:srgbClr val="101820"/>
                </a:solidFill>
              </a:rPr>
              <a:t>top speed-burst skaters were outside the top 50 in points.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956B2-D6F7-4786-9080-0733A3E8267B}"/>
              </a:ext>
            </a:extLst>
          </p:cNvPr>
          <p:cNvSpPr>
            <a:spLocks noGrp="1"/>
          </p:cNvSpPr>
          <p:nvPr/>
        </p:nvSpPr>
        <p:spPr>
          <a:xfrm>
            <a:off x="12573000" y="5410200"/>
            <a:ext cx="4476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C"/>
                </a:solidFill>
              </a:defRPr>
            </a:pPr>
            <a:r>
              <a:rPr sz="1500">
                <a:solidFill>
                  <a:srgbClr val="53616C"/>
                </a:solidFill>
              </a:rPr>
              <a:t>This does not prove speed is useless. It shows burst counts alone are not enough.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248036-BC23-4E84-BA34-70C281F8B8AF}"/>
              </a:ext>
            </a:extLst>
          </p:cNvPr>
          <p:cNvSpPr>
            <a:spLocks noGrp="1"/>
          </p:cNvSpPr>
          <p:nvPr/>
        </p:nvSpPr>
        <p:spPr>
          <a:xfrm>
            <a:off x="12573000" y="5962650"/>
            <a:ext cx="4476750" cy="19050"/>
          </a:xfrm>
          <a:prstGeom prst="rect">
            <a:avLst/>
          </a:prstGeom>
          <a:solidFill>
            <a:srgbClr val="DCE7EE"/>
          </a:solidFill>
          <a:ln w="0">
            <a:solidFill>
              <a:srgbClr val="DC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439CBD-2569-4A1D-8E04-C8E8986DDB6C}"/>
              </a:ext>
            </a:extLst>
          </p:cNvPr>
          <p:cNvSpPr>
            <a:spLocks noGrp="1"/>
          </p:cNvSpPr>
          <p:nvPr/>
        </p:nvSpPr>
        <p:spPr>
          <a:xfrm>
            <a:off x="12573000" y="6153150"/>
            <a:ext cx="4476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Examples scoring rank hides: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D084DE5-6884-4D9B-88E8-51778E2B0401}"/>
              </a:ext>
            </a:extLst>
          </p:cNvPr>
          <p:cNvSpPr>
            <a:spLocks noGrp="1"/>
          </p:cNvSpPr>
          <p:nvPr/>
        </p:nvSpPr>
        <p:spPr>
          <a:xfrm>
            <a:off x="12573000" y="6610350"/>
            <a:ext cx="95250" cy="95250"/>
          </a:xfrm>
          <a:prstGeom prst="ellipse">
            <a:avLst/>
          </a:prstGeom>
          <a:solidFill>
            <a:srgbClr val="FF6B2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BA3AD9-6EED-4188-87E4-A87106D3BFF7}"/>
              </a:ext>
            </a:extLst>
          </p:cNvPr>
          <p:cNvSpPr>
            <a:spLocks noGrp="1"/>
          </p:cNvSpPr>
          <p:nvPr/>
        </p:nvSpPr>
        <p:spPr>
          <a:xfrm>
            <a:off x="12801600" y="6553200"/>
            <a:ext cx="4248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1820"/>
                </a:solidFill>
              </a:defRPr>
            </a:pPr>
            <a:r>
              <a:rPr sz="1575">
                <a:solidFill>
                  <a:srgbClr val="101820"/>
                </a:solidFill>
              </a:rPr>
              <a:t>Owen Tippett: #123 in points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ED17BB-1031-4FCE-A979-33DAB5870AB3}"/>
              </a:ext>
            </a:extLst>
          </p:cNvPr>
          <p:cNvSpPr>
            <a:spLocks noGrp="1"/>
          </p:cNvSpPr>
          <p:nvPr/>
        </p:nvSpPr>
        <p:spPr>
          <a:xfrm>
            <a:off x="12573000" y="6972300"/>
            <a:ext cx="95250" cy="95250"/>
          </a:xfrm>
          <a:prstGeom prst="ellipse">
            <a:avLst/>
          </a:prstGeom>
          <a:solidFill>
            <a:srgbClr val="FF6B2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33E06D-D285-435D-B541-43A43E891613}"/>
              </a:ext>
            </a:extLst>
          </p:cNvPr>
          <p:cNvSpPr>
            <a:spLocks noGrp="1"/>
          </p:cNvSpPr>
          <p:nvPr/>
        </p:nvSpPr>
        <p:spPr>
          <a:xfrm>
            <a:off x="12801600" y="6934200"/>
            <a:ext cx="4248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1820"/>
                </a:solidFill>
              </a:defRPr>
            </a:pPr>
            <a:r>
              <a:rPr sz="1575">
                <a:solidFill>
                  <a:srgbClr val="101820"/>
                </a:solidFill>
              </a:rPr>
              <a:t>Josh Anderson: #369 in points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AAD2505-4CD2-42A1-BA0D-9D9F796A2A0E}"/>
              </a:ext>
            </a:extLst>
          </p:cNvPr>
          <p:cNvSpPr>
            <a:spLocks noGrp="1"/>
          </p:cNvSpPr>
          <p:nvPr/>
        </p:nvSpPr>
        <p:spPr>
          <a:xfrm>
            <a:off x="12573000" y="7353300"/>
            <a:ext cx="95250" cy="95250"/>
          </a:xfrm>
          <a:prstGeom prst="ellipse">
            <a:avLst/>
          </a:prstGeom>
          <a:solidFill>
            <a:srgbClr val="FF6B2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9B88D6-CF65-444E-8CD7-C0B6BA10BCB9}"/>
              </a:ext>
            </a:extLst>
          </p:cNvPr>
          <p:cNvSpPr>
            <a:spLocks noGrp="1"/>
          </p:cNvSpPr>
          <p:nvPr/>
        </p:nvSpPr>
        <p:spPr>
          <a:xfrm>
            <a:off x="12801600" y="7296150"/>
            <a:ext cx="4248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1820"/>
                </a:solidFill>
              </a:defRPr>
            </a:pPr>
            <a:r>
              <a:rPr sz="1575">
                <a:solidFill>
                  <a:srgbClr val="101820"/>
                </a:solidFill>
              </a:rPr>
              <a:t>Brayden Point: #134 in points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F446256-298E-4087-9CC2-52CF1B5E9634}"/>
              </a:ext>
            </a:extLst>
          </p:cNvPr>
          <p:cNvSpPr>
            <a:spLocks noGrp="1"/>
          </p:cNvSpPr>
          <p:nvPr/>
        </p:nvSpPr>
        <p:spPr>
          <a:xfrm>
            <a:off x="12573000" y="7715250"/>
            <a:ext cx="95250" cy="95250"/>
          </a:xfrm>
          <a:prstGeom prst="ellipse">
            <a:avLst/>
          </a:prstGeom>
          <a:solidFill>
            <a:srgbClr val="FF6B2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1134A3-2FCD-4FA4-A229-7420BA69FA05}"/>
              </a:ext>
            </a:extLst>
          </p:cNvPr>
          <p:cNvSpPr>
            <a:spLocks noGrp="1"/>
          </p:cNvSpPr>
          <p:nvPr/>
        </p:nvSpPr>
        <p:spPr>
          <a:xfrm>
            <a:off x="12801600" y="7677150"/>
            <a:ext cx="4248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1820"/>
                </a:solidFill>
              </a:defRPr>
            </a:pPr>
            <a:r>
              <a:rPr sz="1575">
                <a:solidFill>
                  <a:srgbClr val="101820"/>
                </a:solidFill>
              </a:rPr>
              <a:t>Roope Hintz: #170 in points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66DB86-D936-4CBA-B45A-63A1769EA586}"/>
              </a:ext>
            </a:extLst>
          </p:cNvPr>
          <p:cNvSpPr>
            <a:spLocks noGrp="1"/>
          </p:cNvSpPr>
          <p:nvPr/>
        </p:nvSpPr>
        <p:spPr>
          <a:xfrm>
            <a:off x="12573000" y="8096250"/>
            <a:ext cx="95250" cy="95250"/>
          </a:xfrm>
          <a:prstGeom prst="ellipse">
            <a:avLst/>
          </a:prstGeom>
          <a:solidFill>
            <a:srgbClr val="FF6B2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10072C-E1FE-4046-8301-894B1262DC1D}"/>
              </a:ext>
            </a:extLst>
          </p:cNvPr>
          <p:cNvSpPr>
            <a:spLocks noGrp="1"/>
          </p:cNvSpPr>
          <p:nvPr/>
        </p:nvSpPr>
        <p:spPr>
          <a:xfrm>
            <a:off x="12801600" y="8039100"/>
            <a:ext cx="4248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1820"/>
                </a:solidFill>
              </a:defRPr>
            </a:pPr>
            <a:r>
              <a:rPr sz="1575">
                <a:solidFill>
                  <a:srgbClr val="101820"/>
                </a:solidFill>
              </a:rPr>
              <a:t>Logan Cooley: #172 in points</a:t>
            </a:r>
          </a:p>
        </p:txBody>
      </p:sp>
      <p:sp>
        <p:nvSpPr>
          <p:cNvPr id="25" name="source">
            <a:extLst>
              <a:ext uri="{FF2B5EF4-FFF2-40B4-BE49-F238E27FC236}">
                <a16:creationId xmlns:a16="http://schemas.microsoft.com/office/drawing/2014/main" id="{17DD16CE-80B8-4C8A-B6A3-19FAEFC426DC}"/>
              </a:ext>
            </a:extLst>
          </p:cNvPr>
          <p:cNvSpPr>
            <a:spLocks noGrp="1"/>
          </p:cNvSpPr>
          <p:nvPr/>
        </p:nvSpPr>
        <p:spPr>
          <a:xfrm>
            <a:off x="914400" y="9696450"/>
            <a:ext cx="6038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1818B"/>
                </a:solidFill>
              </a:defRPr>
            </a:pPr>
            <a:r>
              <a:rPr sz="1050">
                <a:solidFill>
                  <a:srgbClr val="71818B"/>
                </a:solidFill>
              </a:rPr>
              <a:t>Analysis: NHL EDGE 22+ mph speed-burst top 10 joined to NHL 2025-26 points leaders by player ID.</a:t>
            </a:r>
          </a:p>
        </p:txBody>
      </p:sp>
    </p:spTree>
    <p:extLst>
      <p:ext uri="{BB962C8B-B14F-4D97-AF65-F5344CB8AC3E}">
        <p14:creationId xmlns:p14="http://schemas.microsoft.com/office/powerpoint/2010/main" val="149247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ce-background">
            <a:extLst>
              <a:ext uri="{FF2B5EF4-FFF2-40B4-BE49-F238E27FC236}">
                <a16:creationId xmlns:a16="http://schemas.microsoft.com/office/drawing/2014/main" id="{2EC0E91D-7D6A-4FC1-8F20-B4FF0F5434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ink-line">
            <a:extLst>
              <a:ext uri="{FF2B5EF4-FFF2-40B4-BE49-F238E27FC236}">
                <a16:creationId xmlns:a16="http://schemas.microsoft.com/office/drawing/2014/main" id="{CC594597-6707-4D57-8355-4AF59FD660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A8E8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aint-blue-line">
            <a:extLst>
              <a:ext uri="{FF2B5EF4-FFF2-40B4-BE49-F238E27FC236}">
                <a16:creationId xmlns:a16="http://schemas.microsoft.com/office/drawing/2014/main" id="{B595C262-0612-48A3-B3AA-FC466641E988}"/>
              </a:ext>
            </a:extLst>
          </p:cNvPr>
          <p:cNvSpPr>
            <a:spLocks noGrp="1"/>
          </p:cNvSpPr>
          <p:nvPr/>
        </p:nvSpPr>
        <p:spPr>
          <a:xfrm>
            <a:off x="2971800" y="0"/>
            <a:ext cx="57150" cy="10287000"/>
          </a:xfrm>
          <a:prstGeom prst="rect">
            <a:avLst/>
          </a:prstGeom>
          <a:solidFill>
            <a:srgbClr val="DCE7EE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aint-red-line">
            <a:extLst>
              <a:ext uri="{FF2B5EF4-FFF2-40B4-BE49-F238E27FC236}">
                <a16:creationId xmlns:a16="http://schemas.microsoft.com/office/drawing/2014/main" id="{AC8CB158-4A46-4BD8-8350-6FA8ACA20A8F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38100" cy="10287000"/>
          </a:xfrm>
          <a:prstGeom prst="rect">
            <a:avLst/>
          </a:prstGeom>
          <a:solidFill>
            <a:srgbClr val="F0C7C2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85707144-76AB-477C-9073-25879A21C43F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42875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01820"/>
                </a:solidFill>
              </a:defRPr>
            </a:pPr>
            <a:r>
              <a:rPr sz="4950" b="1">
                <a:solidFill>
                  <a:srgbClr val="101820"/>
                </a:solidFill>
              </a:rPr>
              <a:t>The scoring link is fragile</a:t>
            </a:r>
          </a:p>
        </p:txBody>
      </p:sp>
      <p:sp>
        <p:nvSpPr>
          <p:cNvPr id="6" name="title-rule">
            <a:extLst>
              <a:ext uri="{FF2B5EF4-FFF2-40B4-BE49-F238E27FC236}">
                <a16:creationId xmlns:a16="http://schemas.microsoft.com/office/drawing/2014/main" id="{E4821B91-F05A-499F-AC9B-F3206BB31C5B}"/>
              </a:ext>
            </a:extLst>
          </p:cNvPr>
          <p:cNvSpPr>
            <a:spLocks noGrp="1"/>
          </p:cNvSpPr>
          <p:nvPr/>
        </p:nvSpPr>
        <p:spPr>
          <a:xfrm>
            <a:off x="914400" y="1485900"/>
            <a:ext cx="2000250" cy="57150"/>
          </a:xfrm>
          <a:prstGeom prst="rect">
            <a:avLst/>
          </a:prstGeom>
          <a:solidFill>
            <a:srgbClr val="00A8E8"/>
          </a:solidFill>
          <a:ln w="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7BC6CA90-4207-43A7-A69C-CC1EC2206EA1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11811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53616C"/>
                </a:solidFill>
              </a:defRPr>
            </a:pPr>
            <a:r>
              <a:rPr sz="2250">
                <a:solidFill>
                  <a:srgbClr val="53616C"/>
                </a:solidFill>
              </a:rPr>
              <a:t>A small top-speed sample does not support a simple 'more bursts equals more points' story.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811425-796E-4E80-8355-4AB83981053F}"/>
              </a:ext>
            </a:extLst>
          </p:cNvPr>
          <p:cNvSpPr>
            <a:spLocks noGrp="1"/>
          </p:cNvSpPr>
          <p:nvPr/>
        </p:nvSpPr>
        <p:spPr>
          <a:xfrm>
            <a:off x="1428750" y="3238500"/>
            <a:ext cx="7296150" cy="952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0" b="1">
                <a:solidFill>
                  <a:srgbClr val="00A8E8"/>
                </a:solidFill>
              </a:defRPr>
            </a:pPr>
            <a:r>
              <a:rPr sz="7500" b="1">
                <a:solidFill>
                  <a:srgbClr val="00A8E8"/>
                </a:solidFill>
              </a:rPr>
              <a:t>r = 0.63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3203E6-F17F-440B-9BF8-2FD09CC9E558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72961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53616C"/>
                </a:solidFill>
              </a:defRPr>
            </a:pPr>
            <a:r>
              <a:rPr sz="2100">
                <a:solidFill>
                  <a:srgbClr val="53616C"/>
                </a:solidFill>
              </a:rPr>
              <a:t>bursts vs. points with Connor McDavid included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1F331-6D48-4B5A-8B81-D5C80606F97C}"/>
              </a:ext>
            </a:extLst>
          </p:cNvPr>
          <p:cNvSpPr>
            <a:spLocks noGrp="1"/>
          </p:cNvSpPr>
          <p:nvPr/>
        </p:nvSpPr>
        <p:spPr>
          <a:xfrm>
            <a:off x="9582150" y="3238500"/>
            <a:ext cx="7296150" cy="952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0" b="1">
                <a:solidFill>
                  <a:srgbClr val="FF6B2C"/>
                </a:solidFill>
              </a:defRPr>
            </a:pPr>
            <a:r>
              <a:rPr sz="7500" b="1">
                <a:solidFill>
                  <a:srgbClr val="FF6B2C"/>
                </a:solidFill>
              </a:rPr>
              <a:t>r = 0.24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2A5304-8EE5-49A0-897D-70219BED76F8}"/>
              </a:ext>
            </a:extLst>
          </p:cNvPr>
          <p:cNvSpPr>
            <a:spLocks noGrp="1"/>
          </p:cNvSpPr>
          <p:nvPr/>
        </p:nvSpPr>
        <p:spPr>
          <a:xfrm>
            <a:off x="9582150" y="4343400"/>
            <a:ext cx="72961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53616C"/>
                </a:solidFill>
              </a:defRPr>
            </a:pPr>
            <a:r>
              <a:rPr sz="2100">
                <a:solidFill>
                  <a:srgbClr val="53616C"/>
                </a:solidFill>
              </a:rPr>
              <a:t>bursts vs. points after removing that one outlier</a:t>
            </a:r>
          </a:p>
        </p:txBody>
      </p:sp>
      <p:sp>
        <p:nvSpPr>
          <p:cNvPr id="12" name="fragile-interpretation">
            <a:extLst>
              <a:ext uri="{FF2B5EF4-FFF2-40B4-BE49-F238E27FC236}">
                <a16:creationId xmlns:a16="http://schemas.microsoft.com/office/drawing/2014/main" id="{59C70112-5195-4FE2-AD91-54D02B2AE711}"/>
              </a:ext>
            </a:extLst>
          </p:cNvPr>
          <p:cNvSpPr>
            <a:spLocks noGrp="1"/>
          </p:cNvSpPr>
          <p:nvPr/>
        </p:nvSpPr>
        <p:spPr>
          <a:xfrm>
            <a:off x="1809750" y="6343650"/>
            <a:ext cx="13030200" cy="1600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That swing is the point: public burst counts are a clue, not a performance metric. They need minutes, role, possession, zone, and outcome attached before the number can carry an evaluative claim.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066A58F8-2061-4A46-81AD-50E5EBD63658}"/>
              </a:ext>
            </a:extLst>
          </p:cNvPr>
          <p:cNvSpPr>
            <a:spLocks noGrp="1"/>
          </p:cNvSpPr>
          <p:nvPr/>
        </p:nvSpPr>
        <p:spPr>
          <a:xfrm>
            <a:off x="914400" y="9696450"/>
            <a:ext cx="80581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1818B"/>
                </a:solidFill>
              </a:defRPr>
            </a:pPr>
            <a:r>
              <a:rPr sz="1050">
                <a:solidFill>
                  <a:srgbClr val="71818B"/>
                </a:solidFill>
              </a:rPr>
              <a:t>Analysis: Pearson correlations within the NHL EDGE top-10 22+ mph burst sample; descriptive only, not a league-wide causal estimate.</a:t>
            </a:r>
          </a:p>
        </p:txBody>
      </p:sp>
    </p:spTree>
    <p:extLst>
      <p:ext uri="{BB962C8B-B14F-4D97-AF65-F5344CB8AC3E}">
        <p14:creationId xmlns:p14="http://schemas.microsoft.com/office/powerpoint/2010/main" val="1251340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ce-background">
            <a:extLst>
              <a:ext uri="{FF2B5EF4-FFF2-40B4-BE49-F238E27FC236}">
                <a16:creationId xmlns:a16="http://schemas.microsoft.com/office/drawing/2014/main" id="{859864CE-CFDE-4B58-BA11-D83AA3E66D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ink-line">
            <a:extLst>
              <a:ext uri="{FF2B5EF4-FFF2-40B4-BE49-F238E27FC236}">
                <a16:creationId xmlns:a16="http://schemas.microsoft.com/office/drawing/2014/main" id="{44B5FE15-20A4-4CFB-AF55-577FD63DE1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E7C66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aint-blue-line">
            <a:extLst>
              <a:ext uri="{FF2B5EF4-FFF2-40B4-BE49-F238E27FC236}">
                <a16:creationId xmlns:a16="http://schemas.microsoft.com/office/drawing/2014/main" id="{5F4C82B4-C779-4CCB-A631-930057A09FF7}"/>
              </a:ext>
            </a:extLst>
          </p:cNvPr>
          <p:cNvSpPr>
            <a:spLocks noGrp="1"/>
          </p:cNvSpPr>
          <p:nvPr/>
        </p:nvSpPr>
        <p:spPr>
          <a:xfrm>
            <a:off x="2971800" y="0"/>
            <a:ext cx="57150" cy="10287000"/>
          </a:xfrm>
          <a:prstGeom prst="rect">
            <a:avLst/>
          </a:prstGeom>
          <a:solidFill>
            <a:srgbClr val="DCE7EE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aint-red-line">
            <a:extLst>
              <a:ext uri="{FF2B5EF4-FFF2-40B4-BE49-F238E27FC236}">
                <a16:creationId xmlns:a16="http://schemas.microsoft.com/office/drawing/2014/main" id="{BB0FE661-FA3E-4BC0-9B7E-40E672CB46F7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38100" cy="10287000"/>
          </a:xfrm>
          <a:prstGeom prst="rect">
            <a:avLst/>
          </a:prstGeom>
          <a:solidFill>
            <a:srgbClr val="F0C7C2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FEFA8FE0-02A5-41C7-B4D5-B9257BBAD5F2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42875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01820"/>
                </a:solidFill>
              </a:defRPr>
            </a:pPr>
            <a:r>
              <a:rPr sz="4950" b="1">
                <a:solidFill>
                  <a:srgbClr val="101820"/>
                </a:solidFill>
              </a:rPr>
              <a:t>A fair counterargument</a:t>
            </a:r>
          </a:p>
        </p:txBody>
      </p:sp>
      <p:sp>
        <p:nvSpPr>
          <p:cNvPr id="6" name="title-rule">
            <a:extLst>
              <a:ext uri="{FF2B5EF4-FFF2-40B4-BE49-F238E27FC236}">
                <a16:creationId xmlns:a16="http://schemas.microsoft.com/office/drawing/2014/main" id="{5371717C-F3EC-4F51-A789-E7F409A0EF00}"/>
              </a:ext>
            </a:extLst>
          </p:cNvPr>
          <p:cNvSpPr>
            <a:spLocks noGrp="1"/>
          </p:cNvSpPr>
          <p:nvPr/>
        </p:nvSpPr>
        <p:spPr>
          <a:xfrm>
            <a:off x="914400" y="1485900"/>
            <a:ext cx="2000250" cy="57150"/>
          </a:xfrm>
          <a:prstGeom prst="rect">
            <a:avLst/>
          </a:prstGeom>
          <a:solidFill>
            <a:srgbClr val="00A8E8"/>
          </a:solidFill>
          <a:ln w="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D8F46A8D-1C26-4C4C-8985-AEAC92682F70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6477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53616C"/>
                </a:solidFill>
              </a:defRPr>
            </a:pPr>
            <a:r>
              <a:rPr sz="2250">
                <a:solidFill>
                  <a:srgbClr val="53616C"/>
                </a:solidFill>
              </a:rPr>
              <a:t>Speed can still matter away from the scoring table.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573699-171F-4EAD-B845-6D1DEB25AD3E}"/>
              </a:ext>
            </a:extLst>
          </p:cNvPr>
          <p:cNvSpPr>
            <a:spLocks noGrp="1"/>
          </p:cNvSpPr>
          <p:nvPr/>
        </p:nvSpPr>
        <p:spPr>
          <a:xfrm>
            <a:off x="1143000" y="3105150"/>
            <a:ext cx="729615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Some bursts may create forecheck pressure, controlled entries, defensive recoveries, or space for teammates.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976988-AB5D-4354-BB32-DA4E8A763216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3429000" cy="66675"/>
          </a:xfrm>
          <a:prstGeom prst="rect">
            <a:avLst/>
          </a:prstGeom>
          <a:solidFill>
            <a:srgbClr val="FF6B2C"/>
          </a:solidFill>
          <a:ln w="0">
            <a:solidFill>
              <a:srgbClr val="FF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9D8A1D-9B10-4F95-84C9-8E7482000C54}"/>
              </a:ext>
            </a:extLst>
          </p:cNvPr>
          <p:cNvSpPr>
            <a:spLocks noGrp="1"/>
          </p:cNvSpPr>
          <p:nvPr/>
        </p:nvSpPr>
        <p:spPr>
          <a:xfrm>
            <a:off x="1143000" y="5029200"/>
            <a:ext cx="750570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53616C"/>
                </a:solidFill>
              </a:defRPr>
            </a:pPr>
            <a:r>
              <a:rPr sz="2175">
                <a:solidFill>
                  <a:srgbClr val="53616C"/>
                </a:solidFill>
              </a:rPr>
              <a:t>That is exactly why the public leaderboard is incomplete. If speed matters through pressure and movement, the data needs to show where the burst happened and what changed after 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77E742-B1EC-4423-BD05-EF404D103327}"/>
              </a:ext>
            </a:extLst>
          </p:cNvPr>
          <p:cNvSpPr>
            <a:spLocks noGrp="1"/>
          </p:cNvSpPr>
          <p:nvPr/>
        </p:nvSpPr>
        <p:spPr>
          <a:xfrm>
            <a:off x="10287000" y="3352800"/>
            <a:ext cx="723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7C66"/>
                </a:solidFill>
              </a:defRPr>
            </a:pPr>
            <a:r>
              <a:rPr sz="2550" b="1">
                <a:solidFill>
                  <a:srgbClr val="0E7C66"/>
                </a:solidFill>
              </a:rPr>
              <a:t>Future data I would want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37F740-2635-488D-A680-A30F14D39393}"/>
              </a:ext>
            </a:extLst>
          </p:cNvPr>
          <p:cNvSpPr>
            <a:spLocks noGrp="1"/>
          </p:cNvSpPr>
          <p:nvPr/>
        </p:nvSpPr>
        <p:spPr>
          <a:xfrm>
            <a:off x="10287000" y="3905250"/>
            <a:ext cx="7010400" cy="1295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101820"/>
                </a:solidFill>
              </a:defRPr>
            </a:pPr>
            <a:r>
              <a:rPr sz="2550">
                <a:solidFill>
                  <a:srgbClr val="101820"/>
                </a:solidFill>
              </a:rPr>
              <a:t>A public shift-level tracking file: player/puck trajectories connected to zone entries, possession changes, defender gap, puck-carrier status, and outcome.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765309-1594-4B92-B99C-2DF843465F7E}"/>
              </a:ext>
            </a:extLst>
          </p:cNvPr>
          <p:cNvSpPr>
            <a:spLocks noGrp="1"/>
          </p:cNvSpPr>
          <p:nvPr/>
        </p:nvSpPr>
        <p:spPr>
          <a:xfrm>
            <a:off x="10287000" y="5429250"/>
            <a:ext cx="63627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53616C"/>
                </a:solidFill>
              </a:defRPr>
            </a:pPr>
            <a:r>
              <a:rPr sz="2025">
                <a:solidFill>
                  <a:srgbClr val="53616C"/>
                </a:solidFill>
              </a:rPr>
              <a:t>That would let us ask whether speed created controlled entries, pressure, or recovery, not just whether a player skated fast.</a:t>
            </a:r>
          </a:p>
        </p:txBody>
      </p:sp>
    </p:spTree>
    <p:extLst>
      <p:ext uri="{BB962C8B-B14F-4D97-AF65-F5344CB8AC3E}">
        <p14:creationId xmlns:p14="http://schemas.microsoft.com/office/powerpoint/2010/main" val="382086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ce-background">
            <a:extLst>
              <a:ext uri="{FF2B5EF4-FFF2-40B4-BE49-F238E27FC236}">
                <a16:creationId xmlns:a16="http://schemas.microsoft.com/office/drawing/2014/main" id="{F2DD6D2E-C52A-4498-AC05-95CA4CD2E1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ink-line">
            <a:extLst>
              <a:ext uri="{FF2B5EF4-FFF2-40B4-BE49-F238E27FC236}">
                <a16:creationId xmlns:a16="http://schemas.microsoft.com/office/drawing/2014/main" id="{3310420D-61F8-41C1-9BB3-21E8974513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FF6B2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aint-blue-line">
            <a:extLst>
              <a:ext uri="{FF2B5EF4-FFF2-40B4-BE49-F238E27FC236}">
                <a16:creationId xmlns:a16="http://schemas.microsoft.com/office/drawing/2014/main" id="{CB6BAC77-223C-4BA0-8ED8-30A76DB5FE0D}"/>
              </a:ext>
            </a:extLst>
          </p:cNvPr>
          <p:cNvSpPr>
            <a:spLocks noGrp="1"/>
          </p:cNvSpPr>
          <p:nvPr/>
        </p:nvSpPr>
        <p:spPr>
          <a:xfrm>
            <a:off x="2971800" y="0"/>
            <a:ext cx="57150" cy="10287000"/>
          </a:xfrm>
          <a:prstGeom prst="rect">
            <a:avLst/>
          </a:prstGeom>
          <a:solidFill>
            <a:srgbClr val="DCE7EE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aint-red-line">
            <a:extLst>
              <a:ext uri="{FF2B5EF4-FFF2-40B4-BE49-F238E27FC236}">
                <a16:creationId xmlns:a16="http://schemas.microsoft.com/office/drawing/2014/main" id="{641D167A-EDA3-4656-AE9B-D2EFFA9EEE9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38100" cy="10287000"/>
          </a:xfrm>
          <a:prstGeom prst="rect">
            <a:avLst/>
          </a:prstGeom>
          <a:solidFill>
            <a:srgbClr val="F0C7C2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33D0DBDA-0594-4DF4-A5F4-48F4F9C662D5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42875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01820"/>
                </a:solidFill>
              </a:defRPr>
            </a:pPr>
            <a:r>
              <a:rPr sz="4950" b="1">
                <a:solidFill>
                  <a:srgbClr val="101820"/>
                </a:solidFill>
              </a:rPr>
              <a:t>Bottom line</a:t>
            </a:r>
          </a:p>
        </p:txBody>
      </p:sp>
      <p:sp>
        <p:nvSpPr>
          <p:cNvPr id="6" name="title-rule">
            <a:extLst>
              <a:ext uri="{FF2B5EF4-FFF2-40B4-BE49-F238E27FC236}">
                <a16:creationId xmlns:a16="http://schemas.microsoft.com/office/drawing/2014/main" id="{5E9A3DC4-4C43-40A1-BEFE-1080024B2D19}"/>
              </a:ext>
            </a:extLst>
          </p:cNvPr>
          <p:cNvSpPr>
            <a:spLocks noGrp="1"/>
          </p:cNvSpPr>
          <p:nvPr/>
        </p:nvSpPr>
        <p:spPr>
          <a:xfrm>
            <a:off x="914400" y="1485900"/>
            <a:ext cx="2000250" cy="57150"/>
          </a:xfrm>
          <a:prstGeom prst="rect">
            <a:avLst/>
          </a:prstGeom>
          <a:solidFill>
            <a:srgbClr val="00A8E8"/>
          </a:solidFill>
          <a:ln w="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DE7EED-8A69-4E6D-8C5A-1BA4E2DD8302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9525" cy="952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3BF414-0827-42AA-AFD5-6AD57A6D8148}"/>
              </a:ext>
            </a:extLst>
          </p:cNvPr>
          <p:cNvSpPr>
            <a:spLocks noGrp="1"/>
          </p:cNvSpPr>
          <p:nvPr/>
        </p:nvSpPr>
        <p:spPr>
          <a:xfrm>
            <a:off x="1238250" y="2952750"/>
            <a:ext cx="114300" cy="114300"/>
          </a:xfrm>
          <a:prstGeom prst="ellipse">
            <a:avLst/>
          </a:prstGeom>
          <a:solidFill>
            <a:srgbClr val="00A8E8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600CCC-097E-4AEE-84D4-D7A430BEF05E}"/>
              </a:ext>
            </a:extLst>
          </p:cNvPr>
          <p:cNvSpPr>
            <a:spLocks noGrp="1"/>
          </p:cNvSpPr>
          <p:nvPr/>
        </p:nvSpPr>
        <p:spPr>
          <a:xfrm>
            <a:off x="1504950" y="2857500"/>
            <a:ext cx="135445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101820"/>
                </a:solidFill>
              </a:defRPr>
            </a:pPr>
            <a:r>
              <a:rPr sz="2250">
                <a:solidFill>
                  <a:srgbClr val="101820"/>
                </a:solidFill>
              </a:rPr>
              <a:t>NHL EDGE makes tracking data public, but in a curated and simplified form.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5BE5BD-A0A1-4647-8DF3-BF7F4478AA90}"/>
              </a:ext>
            </a:extLst>
          </p:cNvPr>
          <p:cNvSpPr>
            <a:spLocks noGrp="1"/>
          </p:cNvSpPr>
          <p:nvPr/>
        </p:nvSpPr>
        <p:spPr>
          <a:xfrm>
            <a:off x="1238250" y="3505200"/>
            <a:ext cx="114300" cy="114300"/>
          </a:xfrm>
          <a:prstGeom prst="ellipse">
            <a:avLst/>
          </a:prstGeom>
          <a:solidFill>
            <a:srgbClr val="FF6B2C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14143-6900-46BF-9FA0-96B5FAF6B101}"/>
              </a:ext>
            </a:extLst>
          </p:cNvPr>
          <p:cNvSpPr>
            <a:spLocks noGrp="1"/>
          </p:cNvSpPr>
          <p:nvPr/>
        </p:nvSpPr>
        <p:spPr>
          <a:xfrm>
            <a:off x="1504950" y="3409950"/>
            <a:ext cx="135445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101820"/>
                </a:solidFill>
              </a:defRPr>
            </a:pPr>
            <a:r>
              <a:rPr sz="2250">
                <a:solidFill>
                  <a:srgbClr val="101820"/>
                </a:solidFill>
              </a:rPr>
              <a:t>The speed leaderboard does not cleanly translate into scoring rank.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FA7371-2C9D-47C0-A568-273745825F32}"/>
              </a:ext>
            </a:extLst>
          </p:cNvPr>
          <p:cNvSpPr>
            <a:spLocks noGrp="1"/>
          </p:cNvSpPr>
          <p:nvPr/>
        </p:nvSpPr>
        <p:spPr>
          <a:xfrm>
            <a:off x="1238250" y="4057650"/>
            <a:ext cx="114300" cy="114300"/>
          </a:xfrm>
          <a:prstGeom prst="ellipse">
            <a:avLst/>
          </a:prstGeom>
          <a:solidFill>
            <a:srgbClr val="0E7C66"/>
          </a:solidFill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1A22EF-70D1-4FA6-9BE9-A14D837F0C06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135445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101820"/>
                </a:solidFill>
              </a:defRPr>
            </a:pPr>
            <a:r>
              <a:rPr sz="2250">
                <a:solidFill>
                  <a:srgbClr val="101820"/>
                </a:solidFill>
              </a:rPr>
              <a:t>Public tracking becomes evaluative only when speed is connected to context and outcome.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48CCB5-86C7-4BED-ADA7-10E04CB72EE1}"/>
              </a:ext>
            </a:extLst>
          </p:cNvPr>
          <p:cNvSpPr>
            <a:spLocks noGrp="1"/>
          </p:cNvSpPr>
          <p:nvPr/>
        </p:nvSpPr>
        <p:spPr>
          <a:xfrm>
            <a:off x="1238250" y="672465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6B2C"/>
                </a:solidFill>
              </a:defRPr>
            </a:pPr>
            <a:r>
              <a:rPr sz="1875" b="1">
                <a:solidFill>
                  <a:srgbClr val="FF6B2C"/>
                </a:solidFill>
              </a:rPr>
              <a:t>Discussion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75DC85-357F-47C3-A500-2BBCB7AC89C3}"/>
              </a:ext>
            </a:extLst>
          </p:cNvPr>
          <p:cNvSpPr>
            <a:spLocks noGrp="1"/>
          </p:cNvSpPr>
          <p:nvPr/>
        </p:nvSpPr>
        <p:spPr>
          <a:xfrm>
            <a:off x="1238250" y="7239000"/>
            <a:ext cx="1474470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1820"/>
                </a:solidFill>
              </a:defRPr>
            </a:pPr>
            <a:r>
              <a:rPr sz="3600" b="1">
                <a:solidFill>
                  <a:srgbClr val="101820"/>
                </a:solidFill>
              </a:rPr>
              <a:t>When leagues publish tracking stats for fans, should they release more leaderboards quickly, or fewer metrics with enough context to prevent overinterpretation?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E5E86FCE-A48D-46AD-822D-96A9057A8214}"/>
              </a:ext>
            </a:extLst>
          </p:cNvPr>
          <p:cNvSpPr>
            <a:spLocks noGrp="1"/>
          </p:cNvSpPr>
          <p:nvPr/>
        </p:nvSpPr>
        <p:spPr>
          <a:xfrm>
            <a:off x="914400" y="9696450"/>
            <a:ext cx="636270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1818B"/>
                </a:solidFill>
              </a:defRPr>
            </a:pPr>
            <a:r>
              <a:rPr sz="1050">
                <a:solidFill>
                  <a:srgbClr val="71818B"/>
                </a:solidFill>
              </a:rPr>
              <a:t>Sources: NHL EDGE launch/explainer; NHL EDGE skater speed leaderboard; NHL skater stats leaders API.</a:t>
            </a:r>
          </a:p>
        </p:txBody>
      </p:sp>
    </p:spTree>
    <p:extLst>
      <p:ext uri="{BB962C8B-B14F-4D97-AF65-F5344CB8AC3E}">
        <p14:creationId xmlns:p14="http://schemas.microsoft.com/office/powerpoint/2010/main" val="15336130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649</Words>
  <Application>Microsoft Macintosh PowerPoint</Application>
  <DocSecurity>0</DocSecurity>
  <PresentationFormat>Custom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Rento Saijo</cp:lastModifiedBy>
  <cp:revision>2</cp:revision>
  <dcterms:created xsi:type="dcterms:W3CDTF">2026-04-24T15:17:16Z</dcterms:created>
  <dcterms:modified xsi:type="dcterms:W3CDTF">2026-04-24T17:49:40Z</dcterms:modified>
</cp:coreProperties>
</file>